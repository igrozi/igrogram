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1"/>
  </p:notesMasterIdLst>
  <p:sldIdLst>
    <p:sldId id="256" r:id="rId2"/>
    <p:sldId id="257" r:id="rId3"/>
    <p:sldId id="260" r:id="rId4"/>
    <p:sldId id="258" r:id="rId5"/>
    <p:sldId id="277" r:id="rId6"/>
    <p:sldId id="278" r:id="rId7"/>
    <p:sldId id="276" r:id="rId8"/>
    <p:sldId id="279" r:id="rId9"/>
    <p:sldId id="280" r:id="rId10"/>
    <p:sldId id="281" r:id="rId11"/>
    <p:sldId id="262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7" r:id="rId26"/>
    <p:sldId id="298" r:id="rId27"/>
    <p:sldId id="299" r:id="rId28"/>
    <p:sldId id="300" r:id="rId29"/>
    <p:sldId id="275" r:id="rId30"/>
  </p:sldIdLst>
  <p:sldSz cx="9144000" cy="5143500" type="screen16x9"/>
  <p:notesSz cx="6858000" cy="9144000"/>
  <p:embeddedFontLst>
    <p:embeddedFont>
      <p:font typeface="Assistant" panose="020B0604020202020204" charset="-79"/>
      <p:regular r:id="rId32"/>
      <p:bold r:id="rId33"/>
    </p:embeddedFont>
    <p:embeddedFont>
      <p:font typeface="Cascadia Code" panose="020B0609020000020004" pitchFamily="49" charset="0"/>
      <p:regular r:id="rId34"/>
      <p:bold r:id="rId35"/>
      <p:italic r:id="rId36"/>
      <p:boldItalic r:id="rId37"/>
    </p:embeddedFont>
    <p:embeddedFont>
      <p:font typeface="Sora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5BDD34-1B1D-43CF-8564-C59AF36CF8A6}">
  <a:tblStyle styleId="{475BDD34-1B1D-43CF-8564-C59AF36CF8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3D601A1-38CD-4A05-9DC9-40278C96748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485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171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373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41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792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54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439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700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412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699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416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9526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76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722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733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077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20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452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895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41701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4517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496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094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2391900" y="2533651"/>
            <a:ext cx="436020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title" idx="2" hasCustomPrompt="1"/>
          </p:nvPr>
        </p:nvSpPr>
        <p:spPr>
          <a:xfrm>
            <a:off x="4027050" y="1655549"/>
            <a:ext cx="1089900" cy="95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0" name="Google Shape;50;p3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51" name="Google Shape;51;p3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53" name="Google Shape;53;p3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54" name="Google Shape;54;p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57" name="Google Shape;57;p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60" name="Google Shape;60;p3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2" hasCustomPrompt="1"/>
          </p:nvPr>
        </p:nvSpPr>
        <p:spPr>
          <a:xfrm>
            <a:off x="1584389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3" hasCustomPrompt="1"/>
          </p:nvPr>
        </p:nvSpPr>
        <p:spPr>
          <a:xfrm>
            <a:off x="1584389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4" hasCustomPrompt="1"/>
          </p:nvPr>
        </p:nvSpPr>
        <p:spPr>
          <a:xfrm>
            <a:off x="4167887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5" hasCustomPrompt="1"/>
          </p:nvPr>
        </p:nvSpPr>
        <p:spPr>
          <a:xfrm>
            <a:off x="4167887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6" hasCustomPrompt="1"/>
          </p:nvPr>
        </p:nvSpPr>
        <p:spPr>
          <a:xfrm>
            <a:off x="6751411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7" hasCustomPrompt="1"/>
          </p:nvPr>
        </p:nvSpPr>
        <p:spPr>
          <a:xfrm>
            <a:off x="6751411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"/>
          </p:nvPr>
        </p:nvSpPr>
        <p:spPr>
          <a:xfrm>
            <a:off x="719939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8"/>
          </p:nvPr>
        </p:nvSpPr>
        <p:spPr>
          <a:xfrm>
            <a:off x="3303437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5886961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3"/>
          </p:nvPr>
        </p:nvSpPr>
        <p:spPr>
          <a:xfrm>
            <a:off x="719939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4"/>
          </p:nvPr>
        </p:nvSpPr>
        <p:spPr>
          <a:xfrm>
            <a:off x="3303437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886961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58" name="Google Shape;258;p13"/>
          <p:cNvGrpSpPr/>
          <p:nvPr/>
        </p:nvGrpSpPr>
        <p:grpSpPr>
          <a:xfrm>
            <a:off x="1" y="461906"/>
            <a:ext cx="8886592" cy="4508834"/>
            <a:chOff x="1" y="461906"/>
            <a:chExt cx="8886592" cy="4508834"/>
          </a:xfrm>
        </p:grpSpPr>
        <p:sp>
          <p:nvSpPr>
            <p:cNvPr id="259" name="Google Shape;259;p13"/>
            <p:cNvSpPr/>
            <p:nvPr/>
          </p:nvSpPr>
          <p:spPr>
            <a:xfrm>
              <a:off x="1" y="4246240"/>
              <a:ext cx="715200" cy="72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260" name="Google Shape;260;p13"/>
            <p:cNvGrpSpPr/>
            <p:nvPr/>
          </p:nvGrpSpPr>
          <p:grpSpPr>
            <a:xfrm>
              <a:off x="8074920" y="4608510"/>
              <a:ext cx="707960" cy="146187"/>
              <a:chOff x="7797150" y="445600"/>
              <a:chExt cx="865900" cy="178800"/>
            </a:xfrm>
          </p:grpSpPr>
          <p:sp>
            <p:nvSpPr>
              <p:cNvPr id="261" name="Google Shape;261;p1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>
              <a:off x="8428900" y="461906"/>
              <a:ext cx="457692" cy="146187"/>
              <a:chOff x="715100" y="4416700"/>
              <a:chExt cx="559800" cy="1788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9"/>
          <p:cNvSpPr txBox="1">
            <a:spLocks noGrp="1"/>
          </p:cNvSpPr>
          <p:nvPr>
            <p:ph type="subTitle" idx="1"/>
          </p:nvPr>
        </p:nvSpPr>
        <p:spPr>
          <a:xfrm>
            <a:off x="714967" y="2320013"/>
            <a:ext cx="2503800" cy="7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09" name="Google Shape;309;p19"/>
          <p:cNvSpPr txBox="1">
            <a:spLocks noGrp="1"/>
          </p:cNvSpPr>
          <p:nvPr>
            <p:ph type="subTitle" idx="2"/>
          </p:nvPr>
        </p:nvSpPr>
        <p:spPr>
          <a:xfrm>
            <a:off x="714967" y="2982713"/>
            <a:ext cx="2503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3"/>
          </p:nvPr>
        </p:nvSpPr>
        <p:spPr>
          <a:xfrm>
            <a:off x="3320097" y="2982713"/>
            <a:ext cx="2503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4"/>
          </p:nvPr>
        </p:nvSpPr>
        <p:spPr>
          <a:xfrm>
            <a:off x="5925233" y="2982713"/>
            <a:ext cx="2503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5"/>
          </p:nvPr>
        </p:nvSpPr>
        <p:spPr>
          <a:xfrm>
            <a:off x="3320097" y="2320013"/>
            <a:ext cx="2503800" cy="7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6"/>
          </p:nvPr>
        </p:nvSpPr>
        <p:spPr>
          <a:xfrm>
            <a:off x="5925233" y="2320013"/>
            <a:ext cx="2503800" cy="7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314" name="Google Shape;314;p19"/>
          <p:cNvGrpSpPr/>
          <p:nvPr/>
        </p:nvGrpSpPr>
        <p:grpSpPr>
          <a:xfrm>
            <a:off x="1" y="-10"/>
            <a:ext cx="8782879" cy="4754706"/>
            <a:chOff x="1" y="-10"/>
            <a:chExt cx="8782879" cy="4754706"/>
          </a:xfrm>
        </p:grpSpPr>
        <p:sp>
          <p:nvSpPr>
            <p:cNvPr id="315" name="Google Shape;315;p19"/>
            <p:cNvSpPr/>
            <p:nvPr/>
          </p:nvSpPr>
          <p:spPr>
            <a:xfrm>
              <a:off x="1" y="-10"/>
              <a:ext cx="715200" cy="72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316" name="Google Shape;316;p19"/>
            <p:cNvGrpSpPr/>
            <p:nvPr/>
          </p:nvGrpSpPr>
          <p:grpSpPr>
            <a:xfrm>
              <a:off x="8074920" y="4608510"/>
              <a:ext cx="707960" cy="146187"/>
              <a:chOff x="7797150" y="445600"/>
              <a:chExt cx="865900" cy="178800"/>
            </a:xfrm>
          </p:grpSpPr>
          <p:sp>
            <p:nvSpPr>
              <p:cNvPr id="317" name="Google Shape;317;p1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>
            <a:spLocks noGrp="1"/>
          </p:cNvSpPr>
          <p:nvPr>
            <p:ph type="ctrTitle"/>
          </p:nvPr>
        </p:nvSpPr>
        <p:spPr>
          <a:xfrm>
            <a:off x="2382300" y="822588"/>
            <a:ext cx="43794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subTitle" idx="1"/>
          </p:nvPr>
        </p:nvSpPr>
        <p:spPr>
          <a:xfrm>
            <a:off x="2382300" y="1777238"/>
            <a:ext cx="43794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2382300" y="3373212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80" name="Google Shape;380;p23"/>
          <p:cNvGrpSpPr/>
          <p:nvPr/>
        </p:nvGrpSpPr>
        <p:grpSpPr>
          <a:xfrm>
            <a:off x="-970075" y="-260969"/>
            <a:ext cx="10114085" cy="6434830"/>
            <a:chOff x="-970075" y="-260969"/>
            <a:chExt cx="10114085" cy="6434830"/>
          </a:xfrm>
        </p:grpSpPr>
        <p:sp>
          <p:nvSpPr>
            <p:cNvPr id="381" name="Google Shape;381;p23"/>
            <p:cNvSpPr/>
            <p:nvPr/>
          </p:nvSpPr>
          <p:spPr>
            <a:xfrm>
              <a:off x="788610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-970075" y="172920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383" name="Google Shape;383;p23"/>
            <p:cNvGrpSpPr/>
            <p:nvPr/>
          </p:nvGrpSpPr>
          <p:grpSpPr>
            <a:xfrm>
              <a:off x="1753250" y="4608506"/>
              <a:ext cx="457692" cy="146187"/>
              <a:chOff x="715100" y="4416700"/>
              <a:chExt cx="559800" cy="178800"/>
            </a:xfrm>
          </p:grpSpPr>
          <p:sp>
            <p:nvSpPr>
              <p:cNvPr id="384" name="Google Shape;384;p2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5" name="Google Shape;385;p2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6" name="Google Shape;386;p23"/>
            <p:cNvGrpSpPr/>
            <p:nvPr/>
          </p:nvGrpSpPr>
          <p:grpSpPr>
            <a:xfrm flipH="1">
              <a:off x="7089452" y="4121822"/>
              <a:ext cx="2054558" cy="2052038"/>
              <a:chOff x="2661627" y="4121822"/>
              <a:chExt cx="2054558" cy="2052038"/>
            </a:xfrm>
          </p:grpSpPr>
          <p:sp>
            <p:nvSpPr>
              <p:cNvPr id="387" name="Google Shape;387;p23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8" name="Google Shape;388;p23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9" name="Google Shape;389;p23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0" name="Google Shape;390;p23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1" name="Google Shape;391;p23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3" name="Google Shape;393;p23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4" name="Google Shape;394;p23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5" name="Google Shape;395;p23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6" name="Google Shape;396;p23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7" name="Google Shape;397;p23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9" name="Google Shape;399;p23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0" name="Google Shape;400;p23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1" name="Google Shape;401;p23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2" name="Google Shape;402;p23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03" name="Google Shape;403;p23"/>
            <p:cNvGrpSpPr/>
            <p:nvPr/>
          </p:nvGrpSpPr>
          <p:grpSpPr>
            <a:xfrm flipH="1">
              <a:off x="715099" y="-260969"/>
              <a:ext cx="1282527" cy="1043744"/>
              <a:chOff x="5577063" y="-266175"/>
              <a:chExt cx="1527000" cy="1242700"/>
            </a:xfrm>
          </p:grpSpPr>
          <p:sp>
            <p:nvSpPr>
              <p:cNvPr id="404" name="Google Shape;404;p23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6" name="Google Shape;406;p23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7" name="Google Shape;407;p23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9" name="Google Shape;409;p23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12" name="Google Shape;412;p23"/>
            <p:cNvGrpSpPr/>
            <p:nvPr/>
          </p:nvGrpSpPr>
          <p:grpSpPr>
            <a:xfrm>
              <a:off x="4218021" y="388710"/>
              <a:ext cx="707960" cy="146187"/>
              <a:chOff x="7797150" y="445600"/>
              <a:chExt cx="865900" cy="178800"/>
            </a:xfrm>
          </p:grpSpPr>
          <p:sp>
            <p:nvSpPr>
              <p:cNvPr id="413" name="Google Shape;413;p2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5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cket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13" y="1656715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5400" dirty="0">
                <a:solidFill>
                  <a:schemeClr val="bg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IGROGRAM</a:t>
            </a:r>
            <a:br>
              <a:rPr lang="en-US" sz="4500" dirty="0"/>
            </a:br>
            <a:r>
              <a:rPr lang="ru-RU" sz="3200" b="0" dirty="0">
                <a:latin typeface="Cascadia Code" panose="020B0609020000020004" pitchFamily="49" charset="0"/>
                <a:cs typeface="Cascadia Code" panose="020B0609020000020004" pitchFamily="49" charset="0"/>
              </a:rPr>
              <a:t>безопасный веб-мессенджер для общения и коммуникации</a:t>
            </a:r>
            <a:endParaRPr sz="4000" b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1243000" y="3149815"/>
            <a:ext cx="6482335" cy="635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Студент: Федутенко Игорь Алексеевич             Преподаватель: Демьянов Павел Эдуардович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810745" y="2510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pc="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IGROGRAM</a:t>
            </a:r>
            <a:endParaRPr sz="4000" spc="6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62E31F-7792-4480-A2F0-54222FAE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1025669"/>
            <a:ext cx="7800930" cy="3691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"/>
          <p:cNvSpPr txBox="1">
            <a:spLocks noGrp="1"/>
          </p:cNvSpPr>
          <p:nvPr>
            <p:ph type="title"/>
          </p:nvPr>
        </p:nvSpPr>
        <p:spPr>
          <a:xfrm>
            <a:off x="1827123" y="1787338"/>
            <a:ext cx="5790635" cy="1386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ОСНОВНЫЕ </a:t>
            </a:r>
            <a:r>
              <a:rPr lang="ru-RU" dirty="0">
                <a:solidFill>
                  <a:schemeClr val="bg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ВОЗМОЖНОСТИ</a:t>
            </a:r>
            <a:endParaRPr dirty="0">
              <a:solidFill>
                <a:schemeClr val="bg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57" name="Google Shape;557;p33"/>
          <p:cNvSpPr txBox="1">
            <a:spLocks noGrp="1"/>
          </p:cNvSpPr>
          <p:nvPr>
            <p:ph type="title" idx="2"/>
          </p:nvPr>
        </p:nvSpPr>
        <p:spPr>
          <a:xfrm>
            <a:off x="4027050" y="895790"/>
            <a:ext cx="10899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01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0030" y="3884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ЧАТЫ И СООБЩЕНИЯ</a:t>
            </a:r>
            <a:endParaRPr sz="4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363855" y="1265307"/>
            <a:ext cx="411670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ОТПРАВКА ТЕКСТОВЫХ СООБЩЕНИЙ И ИЗОБРАЖЕНИЙ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ОТВЕТЫ НА СООБЩЕНИЕ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ДВОЙНЫЕ ГАЛОЧКИ О ПРОЧТЕНИИ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УДАЛЕНИЕ СООБЩЕНИЙ С АНИМАЦИЕЙ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СТАТУС «</a:t>
            </a: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ONLINE</a:t>
            </a: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» ПОЛЬЗОВАТЕЛЕЙ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АДАПТИВНЫЙ ИНТЕРФЕЙС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САЙДБАР ДЛЯ НАВИГАЦИИ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DA8EA93-1498-44E8-842F-41D47BD0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86287"/>
            <a:ext cx="4277941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7650" y="5179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ПРОФИЛИ ПОЛЬЗОВАТЕЛЕЙ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153633" y="1863209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ПРОСМОТР СТАТИСТИКИ ПОЛЬЗОВАТЕЛЕЙ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БИОГРАФИЯ ПОЛЬЗОВАТЕЛЯ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СТЕНА ПОСТОВ С ИЗОБРАЖЕНИЯМИ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1FB1A97-CD2C-409C-AA70-CAFF50B53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021" y="1371600"/>
            <a:ext cx="5093979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4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7650" y="5179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СИСТЕМА РЕЙТИНГА</a:t>
            </a:r>
            <a:endParaRPr lang="ru-RU" sz="5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645795" y="1679049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ОЦЕНКА ПОЛЬЗОВАТЕЛЕЙ ПО 5-ЗВЁЗДОЧНОЙ ШКАЛЕ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СТАТИСТИКА РАСПРЕДЕЛЕНИЯ ОЦЕНОК (ДИАГРАММА)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ПОДСЧЁТ СРЕДНЕГО РЕЙТИНГА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E4CFE0-BCF2-46EB-8506-0069FEB9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151" y="1219200"/>
            <a:ext cx="2072649" cy="386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9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7650" y="5179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ПОСТЫ И КОММЕНТАРИИ</a:t>
            </a:r>
            <a:endParaRPr sz="4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760095" y="1663809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ПУБЛИКАЦИЯ ПОСТОВ С ИЗОБРАЖЕНИЯМИ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ЛАЙКИ ПОСТОВ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КОММЕНТАРИИ С ВЛОЖЕННЫМИ ОТВЕТАМИ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ЗАКРЕПЛЕНИЕ ВАЖНЫХ ПОСТОВ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EE367F-0CBB-496F-8DEE-15AD7643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984" y="1211579"/>
            <a:ext cx="3125666" cy="373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2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7650" y="5179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НАСТРОЙКИ АККАУНТА</a:t>
            </a:r>
            <a:endParaRPr lang="ru-RU" sz="5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180975" y="1616764"/>
            <a:ext cx="357568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СМЕНА ИМЕНИ, EMAIL, ПАРОЛЯ</a:t>
            </a:r>
            <a:endParaRPr 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ОБНОВЛЕНИЕ АВАТАРА</a:t>
            </a:r>
            <a:endParaRPr 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УПРАВЛЕНИЕ УВЕДОМЛЕНИЯМИ</a:t>
            </a:r>
            <a:endParaRPr 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УДАЛЕНИЕ АККАУНТА С ПОДТВЕРЖДЕНИЕМ ПАРОЛЯ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ТЁМНАЯ/СВЕТЛАЯ ТЕМА</a:t>
            </a:r>
            <a:br>
              <a:rPr lang="ru-RU" dirty="0"/>
            </a:br>
            <a:endParaRPr lang="ru-RU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8D3D57-8345-41AF-AF1C-1F64623A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2" y="1539240"/>
            <a:ext cx="5554979" cy="262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00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"/>
          <p:cNvSpPr txBox="1">
            <a:spLocks noGrp="1"/>
          </p:cNvSpPr>
          <p:nvPr>
            <p:ph type="title"/>
          </p:nvPr>
        </p:nvSpPr>
        <p:spPr>
          <a:xfrm>
            <a:off x="1827123" y="1787338"/>
            <a:ext cx="5790635" cy="1386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АРХИТЕКТУРА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 ТЕХНОЛОГИИ</a:t>
            </a:r>
          </a:p>
        </p:txBody>
      </p:sp>
      <p:sp>
        <p:nvSpPr>
          <p:cNvPr id="557" name="Google Shape;557;p33"/>
          <p:cNvSpPr txBox="1">
            <a:spLocks noGrp="1"/>
          </p:cNvSpPr>
          <p:nvPr>
            <p:ph type="title" idx="2"/>
          </p:nvPr>
        </p:nvSpPr>
        <p:spPr>
          <a:xfrm>
            <a:off x="4027050" y="895790"/>
            <a:ext cx="10899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02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58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960030" y="3884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АРХИТЕКТУРА</a:t>
            </a:r>
            <a:r>
              <a:rPr lang="en-US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И ТЕХНОЛОГИИ</a:t>
            </a:r>
            <a:endParaRPr sz="4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0962A3A-9D6A-40DF-9068-A35D28537B26}"/>
              </a:ext>
            </a:extLst>
          </p:cNvPr>
          <p:cNvSpPr/>
          <p:nvPr/>
        </p:nvSpPr>
        <p:spPr>
          <a:xfrm>
            <a:off x="179759" y="1784508"/>
            <a:ext cx="39274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React 18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UI-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библиотека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React Router DOM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маршрутизация (главная, профиль, настройки, чат)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Vite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сборка проекта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TailwindCSS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стилизация и адаптивность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Framer Motion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анимации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Socket.IO</a:t>
            </a: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Client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– WebSocket-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соединение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583EE5-58F6-4AF1-BF62-A32F7A946E34}"/>
              </a:ext>
            </a:extLst>
          </p:cNvPr>
          <p:cNvSpPr/>
          <p:nvPr/>
        </p:nvSpPr>
        <p:spPr>
          <a:xfrm>
            <a:off x="1432650" y="146045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FRONTEND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8BCE46-4008-4AA3-B9A2-241287B06FCA}"/>
              </a:ext>
            </a:extLst>
          </p:cNvPr>
          <p:cNvSpPr/>
          <p:nvPr/>
        </p:nvSpPr>
        <p:spPr>
          <a:xfrm>
            <a:off x="4786576" y="1784508"/>
            <a:ext cx="41776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Node.js + Express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серверная логика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Socket.IO 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– real-time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коммуникация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реляционная база данных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JWT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аутентификация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bcrypt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хеширование паролей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Multer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загрузка файлов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Middleware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аутентификация через </a:t>
            </a:r>
            <a:r>
              <a:rPr lang="en-US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Beare</a:t>
            </a:r>
            <a:endParaRPr lang="ru-RU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29C121-EF20-4030-BC11-2F47338B9C32}"/>
              </a:ext>
            </a:extLst>
          </p:cNvPr>
          <p:cNvSpPr/>
          <p:nvPr/>
        </p:nvSpPr>
        <p:spPr>
          <a:xfrm>
            <a:off x="6553110" y="1476731"/>
            <a:ext cx="11582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BACKEND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6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788580" y="1219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АУНТФИКАЦИЯ И ПРОФИЛЬ</a:t>
            </a:r>
            <a:endParaRPr sz="4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0591AA6-5906-4AA7-81AF-274B0009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353" y="830580"/>
            <a:ext cx="4191087" cy="41336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719999" y="1630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ЧАТЫ И СООБЩЕНИЯ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E0C13D-060D-42A7-AEE0-44DEAD8D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739" y="972295"/>
            <a:ext cx="2278521" cy="38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0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933360" y="10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ПОСТЫ И КОММЕНТАРИИ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00BD4E-AB25-4272-9BBB-438AF15E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101" y="777240"/>
            <a:ext cx="3034079" cy="419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0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933360" y="10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СИСТЕМА РЕЙТИНГА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AE9075-4644-4FC9-AF2B-433A70BB1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050" y="1113228"/>
            <a:ext cx="358190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6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000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НАСТРОЙКИ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4211D9-7144-42BB-955D-43CFA5BB8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296" y="1570561"/>
            <a:ext cx="5441899" cy="24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5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ПОЛЬЗОВАТЕЛИ И АУТЕНТИФИКАЦИЯ</a:t>
            </a:r>
            <a:b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D9C8E1-91DE-453B-BCA3-EFA8B08E4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53" y="1123737"/>
            <a:ext cx="3652094" cy="372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18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СООБЩЕНИЯ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2B1BD0-A856-47F8-ABC3-CCAF1683F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288" y="1242502"/>
            <a:ext cx="5138052" cy="265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79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ПОСТЫ И КОММЕНТАРИИ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858F9A-878D-47FE-A381-61A32E22C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863" y="1301896"/>
            <a:ext cx="5818924" cy="279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27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СИСТЕМА РЕЙТИНГА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220080-1992-420D-AB51-38DCE4CC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020" y="1453420"/>
            <a:ext cx="6754563" cy="24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89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2400" y="193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ОТПРАВКА СООБЩЕНИЯ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5A75BC-0DF0-4DAB-BACC-65C6841E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17" y="924613"/>
            <a:ext cx="5125165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40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9399" y="10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РЕГИСТРАЦИЯ ПОЛЬЗОВАТЕЛЯ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7CCC15-DFAA-4021-A65F-196A985B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857" y="757483"/>
            <a:ext cx="4817084" cy="418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6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ЛАЙК ПОСТА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5D056E-9D23-410B-AF48-4570148C2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509" y="839880"/>
            <a:ext cx="5079971" cy="396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26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АРХИТЕКТУРА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06C885-1DE7-43F4-903A-36E71496E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93" y="1028701"/>
            <a:ext cx="4280202" cy="378714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789ADA-F78A-48E8-ABE0-B6F943CDC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939" y="3910840"/>
            <a:ext cx="1409897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27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АРХИТЕКТУРА</a:t>
            </a:r>
            <a:endParaRPr lang="ru-RU" sz="4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A3955B-1B9E-43B6-87EF-01FB72C6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75" y="722556"/>
            <a:ext cx="6938249" cy="430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15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СОЗДАНИЕ ПОСТА</a:t>
            </a:r>
            <a:endParaRPr lang="ru-RU" sz="5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635BDF-6BEC-4B71-9406-A91CE764B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749" y="616619"/>
            <a:ext cx="3079489" cy="42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2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ОЦЕНИВАНИЕ ПОЛЬЗОВАТЕЛЕЙ</a:t>
            </a:r>
            <a:endParaRPr lang="ru-RU" sz="5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31D141-FC0B-45B6-B379-E899CD968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62" y="624543"/>
            <a:ext cx="2729664" cy="436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ДОБАВЛЕНИЕ КОММЕНТАРИЯ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89EDE0-CC6B-4F42-9A11-408247BD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337" y="687986"/>
            <a:ext cx="3499326" cy="408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58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>
            <a:spLocks noGrp="1"/>
          </p:cNvSpPr>
          <p:nvPr>
            <p:ph type="title"/>
          </p:nvPr>
        </p:nvSpPr>
        <p:spPr>
          <a:xfrm>
            <a:off x="877494" y="518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ИТОГ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9F02817-95F3-471A-B9DD-91BE89664A2D}"/>
              </a:ext>
            </a:extLst>
          </p:cNvPr>
          <p:cNvSpPr/>
          <p:nvPr/>
        </p:nvSpPr>
        <p:spPr>
          <a:xfrm>
            <a:off x="149225" y="690452"/>
            <a:ext cx="8994775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РАЗРАБОТАН </a:t>
            </a: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ПОЛНОФУНКЦИОНАЛЬНЫЙ МЕССЕНДЖЕР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С ПОДДЕРЖКОЙ РЕАЛЬНОГО ВРЕМЕНИ, ВКЛЮЧАЮЩИЙ:</a:t>
            </a:r>
          </a:p>
          <a:p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ЧАТЫ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ОТПРАВКА ТЕКСТОВЫХ СООБЩЕНИЙ И ИЗОБРАЖЕНИЙ, ОТВЕТЫ НА СООБЩЕНИЯ (ЦИТИРОВАНИЕ), ДВОЙНЫЕ ГАЛОЧКИ О ПРОЧТЕНИИ, УДАЛЕНИЕ С АНИМАЦИЕЙ «ЛОПАЮЩЕГОСЯ ПУЗЫРЯ», СТАТУС «ОНЛАЙН» ПОЛЬЗОВАТЕЛЕЙ, АДАПТИВНЫЙ ИНТЕРФЕЙС (МОБИЛЬНАЯ И ДЕСКТОПНАЯ ВЕРСИИ), САЙДБАР ДЛЯ НАВИГАЦИИ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ПРОФИЛИ ПОЛЬЗОВАТЕЛЕЙ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ПРОСМОТР СТРАНИЦ ПОЛЬЗОВАТЕЛЕЙ, БИОГРАФИЯ ПОЛЬЗОВАТЕЛЯ, СТЕНА ПОСТОВ С ИЗОБРАЖЕНИЯМИ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ПОСТЫ И КОММЕНТАРИИ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ПУБЛИКАЦИЯ ПОСТОВ С ИЗОБРАЖЕНИЯМИ, ЛАЙКИ, КОММЕНТАРИИ С ВЛОЖЕННЫМИ ОТВЕТАМИ, ЗАКРЕПЛЕНИЕ ВАЖНЫХ ПОСТОВ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СИСТЕМА РЕЙТИНГА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ОЦЕНКА ПОЛЬЗОВАТЕЛЕЙ ПО 5-ЗВЁЗДОЧНОЙ ШКАЛЕ, СТАТИСТИКА РАСПРЕДЕЛЕНИЯ ОЦЕНОК (ДИАГРАММА), ПОДСЧЁТ СРЕДНЕГО РЕЙТИНГА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НАСТРОЙКИ АККАУНТА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СМЕНА ИМЕНИ, EMAIL, ПАРОЛЯ, ОБНОВЛЕНИЕ АВАТАРА, УПРАВЛЕНИЕ УВЕДОМЛЕНИЯМИ, ТЁМНАЯ/СВЕТЛАЯ ТЕМА, УДАЛЕНИЕ АККАУНТА С ПОДТВЕРЖДЕНИЕМ ПАРОЛЯ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БЕЗОПАСНОСТЬ</a:t>
            </a:r>
            <a:r>
              <a:rPr lang="ru-RU" sz="12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— JWT-АУТЕНТИФИКАЦИЯ, ХЕШИРОВАНИЕ ПАРОЛЕЙ (BCRYPT), CORS-ЗАЩИТА</a:t>
            </a:r>
          </a:p>
        </p:txBody>
      </p:sp>
    </p:spTree>
    <p:extLst>
      <p:ext uri="{BB962C8B-B14F-4D97-AF65-F5344CB8AC3E}">
        <p14:creationId xmlns:p14="http://schemas.microsoft.com/office/powerpoint/2010/main" val="127075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8"/>
          <p:cNvSpPr txBox="1">
            <a:spLocks noGrp="1"/>
          </p:cNvSpPr>
          <p:nvPr>
            <p:ph type="subTitle" idx="1"/>
          </p:nvPr>
        </p:nvSpPr>
        <p:spPr>
          <a:xfrm>
            <a:off x="1328569" y="3147100"/>
            <a:ext cx="6327123" cy="427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86" name="Google Shape;786;p48"/>
          <p:cNvSpPr txBox="1">
            <a:spLocks noGrp="1"/>
          </p:cNvSpPr>
          <p:nvPr>
            <p:ph type="ctrTitle"/>
          </p:nvPr>
        </p:nvSpPr>
        <p:spPr>
          <a:xfrm>
            <a:off x="896769" y="1760530"/>
            <a:ext cx="7757160" cy="92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>
                <a:latin typeface="Cascadia Code" panose="020B0609020000020004" pitchFamily="49" charset="0"/>
                <a:cs typeface="Cascadia Code" panose="020B0609020000020004" pitchFamily="49" charset="0"/>
              </a:rPr>
              <a:t>СПАСИБО ЗА ВНИМАНИЕ !</a:t>
            </a:r>
            <a:endParaRPr sz="4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CA9445-4D38-413A-AA2B-7CC9A8EBBD47}"/>
              </a:ext>
            </a:extLst>
          </p:cNvPr>
          <p:cNvSpPr/>
          <p:nvPr/>
        </p:nvSpPr>
        <p:spPr>
          <a:xfrm>
            <a:off x="2088020" y="3574820"/>
            <a:ext cx="4808220" cy="427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Другая 22">
      <a:dk1>
        <a:srgbClr val="714EC8"/>
      </a:dk1>
      <a:lt1>
        <a:srgbClr val="E8E8E8"/>
      </a:lt1>
      <a:dk2>
        <a:srgbClr val="714EC8"/>
      </a:dk2>
      <a:lt2>
        <a:srgbClr val="EAE5EB"/>
      </a:lt2>
      <a:accent1>
        <a:srgbClr val="665EB8"/>
      </a:accent1>
      <a:accent2>
        <a:srgbClr val="665EB8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380</Words>
  <Application>Microsoft Office PowerPoint</Application>
  <PresentationFormat>Экран (16:9)</PresentationFormat>
  <Paragraphs>99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Cascadia Code</vt:lpstr>
      <vt:lpstr>Sora</vt:lpstr>
      <vt:lpstr>Arial</vt:lpstr>
      <vt:lpstr>Assistant</vt:lpstr>
      <vt:lpstr>Clean Aesthetic Style Marketing Plan by Slidesgo</vt:lpstr>
      <vt:lpstr>IGROGRAM безопасный веб-мессенджер для общения и коммуникации</vt:lpstr>
      <vt:lpstr>IGROGRAM</vt:lpstr>
      <vt:lpstr>ОСНОВНЫЕ ВОЗМОЖНОСТИ</vt:lpstr>
      <vt:lpstr>ЧАТЫ И СООБЩЕНИЯ</vt:lpstr>
      <vt:lpstr>ПРОФИЛИ ПОЛЬЗОВАТЕЛЕЙ</vt:lpstr>
      <vt:lpstr>СИСТЕМА РЕЙТИНГА</vt:lpstr>
      <vt:lpstr>ПОСТЫ И КОММЕНТАРИИ</vt:lpstr>
      <vt:lpstr>НАСТРОЙКИ АККАУНТА</vt:lpstr>
      <vt:lpstr>АРХИТЕКТУРА И ТЕХНОЛОГИИ</vt:lpstr>
      <vt:lpstr>АРХИТЕКТУРА И ТЕХНОЛОГИИ</vt:lpstr>
      <vt:lpstr>АУНТФИКАЦИЯ И ПРОФИЛЬ</vt:lpstr>
      <vt:lpstr>ЧАТЫ И СООБЩЕНИЯ</vt:lpstr>
      <vt:lpstr>ПОСТЫ И КОММЕНТАРИИ</vt:lpstr>
      <vt:lpstr>СИСТЕМА РЕЙТИНГА</vt:lpstr>
      <vt:lpstr>НАСТРОЙКИ</vt:lpstr>
      <vt:lpstr>ПОЛЬЗОВАТЕЛИ И АУТЕНТИФИКАЦИЯ </vt:lpstr>
      <vt:lpstr>СООБЩЕНИЯ</vt:lpstr>
      <vt:lpstr>ПОСТЫ И КОММЕНТАРИИ</vt:lpstr>
      <vt:lpstr>СИСТЕМА РЕЙТИНГА</vt:lpstr>
      <vt:lpstr>ОТПРАВКА СООБЩЕНИЯ</vt:lpstr>
      <vt:lpstr>РЕГИСТРАЦИЯ ПОЛЬЗОВАТЕЛЯ</vt:lpstr>
      <vt:lpstr>ЛАЙК ПОСТА</vt:lpstr>
      <vt:lpstr>АРХИТЕКТУРА</vt:lpstr>
      <vt:lpstr>АРХИТЕКТУРА</vt:lpstr>
      <vt:lpstr>СОЗДАНИЕ ПОСТА</vt:lpstr>
      <vt:lpstr>ОЦЕНИВАНИЕ ПОЛЬЗОВАТЕЛЕЙ</vt:lpstr>
      <vt:lpstr>ДОБАВЛЕНИЕ КОММЕНТАРИЯ</vt:lpstr>
      <vt:lpstr>ИТОГ</vt:lpstr>
      <vt:lpstr>СПАСИБО ЗА ВНИМАНИЕ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IGROGRAM безопасный веб-мессенджер для общения и коммуникации</dc:title>
  <cp:lastModifiedBy>Игорь Федутенко</cp:lastModifiedBy>
  <cp:revision>21</cp:revision>
  <dcterms:modified xsi:type="dcterms:W3CDTF">2026-04-28T12:28:32Z</dcterms:modified>
</cp:coreProperties>
</file>